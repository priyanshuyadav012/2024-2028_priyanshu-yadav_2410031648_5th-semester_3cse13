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Crimson Pro Black"/>
      <p:regular r:id="rId201314"/>
    </p:embeddedFont>
    <p:embeddedFont>
      <p:font typeface="Crimson Pro"/>
      <p:regular r:id="rId201315"/>
    </p:embeddedFont>
    <p:embeddedFont>
      <p:font typeface="Crimson Pro SemiBold"/>
      <p:regular r:id="rId201316"/>
    </p:embeddedFont>
    <p:embeddedFont>
      <p:font typeface="Crimson Pro Bold"/>
      <p:regular r:id="rId201317"/>
    </p:embeddedFont>
    <p:embeddedFont>
      <p:font typeface="Heebo"/>
      <p:regular r:id="rId201318"/>
    </p:embeddedFont>
    <p:embeddedFont>
      <p:font typeface="Heebo SemiBold"/>
      <p:regular r:id="rId201319"/>
    </p:embeddedFont>
    <p:embeddedFont>
      <p:font typeface="Heebo Bold"/>
      <p:regular r:id="rId201320"/>
    </p:embeddedFont>
    <p:embeddedFont>
      <p:font typeface="Heebo Black"/>
      <p:regular r:id="rId2013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968772"/>
            <a:ext cx="1464829" cy="146486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2929731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NetSage AI: Intelligent Network Troubleshooting Assistant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4441726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661475" y="4897041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Student: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Priyanshu Yadav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Roll Number: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2410031648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Batch: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2024–2028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4897041"/>
            <a:ext cx="5203794" cy="12473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Internship: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Cisco Virtual Internship Program</a:t>
            </a:r>
            <a:endParaRPr lang="en-US" sz="14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College: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IILM University, Greater Noida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Faculty Mentor: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Dr. Swati Vashisht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935"/>
            <a:ext cx="1353111" cy="215305"/>
          </a:xfrm>
          <a:prstGeom prst="roundRect">
            <a:avLst>
              <a:gd name="adj" fmla="val 7901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6503" y="571401"/>
            <a:ext cx="179264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61475" y="786705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Industry Problem Statement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661475" y="3336429"/>
            <a:ext cx="5822110" cy="1103809"/>
          </a:xfrm>
          <a:prstGeom prst="rect">
            <a:avLst/>
          </a:prstGeom>
          <a:noFill/>
          <a:ln/>
        </p:spPr>
        <p:txBody>
          <a:bodyPr wrap="square" lIns="0" tIns="56706" rIns="0" bIns="0" rtlCol="0" anchor="t">
            <a:normAutofit/>
          </a:bodyPr>
          <a:lstStyle/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Network faults require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manual, time-consuming diagnosis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IP conflicts, VLAN errors, routing issues, DHCP, DNS, ACL, NAT, and wireless failures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Diagnosis is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error-prone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inconsistent across engineers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Junior engineers struggle when the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same symptom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has multiple root causes</a:t>
            </a:r>
            <a:endParaRPr lang="en-US" sz="1100" dirty="0"/>
          </a:p>
          <a:p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Urgent need for 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structured, explainable</a:t>
            </a:r>
            <a:pPr algn="l" marL="223520" indent="-223520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troubleshooting guidance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35802" y="1508720"/>
            <a:ext cx="4700668" cy="470078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324471"/>
            <a:ext cx="1972122" cy="287139"/>
          </a:xfrm>
          <a:prstGeom prst="roundRect">
            <a:avLst>
              <a:gd name="adj" fmla="val 7899"/>
            </a:avLst>
          </a:prstGeom>
          <a:solidFill>
            <a:srgbClr val="CCD7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879" y="1392436"/>
            <a:ext cx="151206" cy="15120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1687" y="1381125"/>
            <a:ext cx="212809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PROPOSED SOLUTION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168721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NetSage AI</a:t>
            </a:r>
            <a:endParaRPr lang="en-US" sz="3700" dirty="0"/>
          </a:p>
        </p:txBody>
      </p:sp>
      <p:sp>
        <p:nvSpPr>
          <p:cNvPr id="6" name="Shape 3"/>
          <p:cNvSpPr/>
          <p:nvPr/>
        </p:nvSpPr>
        <p:spPr>
          <a:xfrm>
            <a:off x="661475" y="2561332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850482" y="2750344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Web-Based Assistant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850482" y="3159026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Accessible troubleshooting platform built with Streamlit — no local installation required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190301" y="2561332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6379308" y="2750344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Hybrid Intelligence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379308" y="3159026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Deterministic Python rules combined with AI-assisted diagnosis for accuracy and depth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1475" y="4141887"/>
            <a:ext cx="5339820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850482" y="4330898"/>
            <a:ext cx="49618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Structured Fixes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50482" y="4739580"/>
            <a:ext cx="496180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Every case yields a structured diagnosis with specific, recommended remediation steps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190301" y="4141887"/>
            <a:ext cx="5339919" cy="1391543"/>
          </a:xfrm>
          <a:prstGeom prst="roundRect">
            <a:avLst>
              <a:gd name="adj" fmla="val 2038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6379308" y="4330898"/>
            <a:ext cx="49619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in Control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379308" y="4739580"/>
            <a:ext cx="49619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 automatic configuration changes — human reviewer retains final authority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91394"/>
            <a:ext cx="1093760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48048"/>
            <a:ext cx="147653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OBJECTIVES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5413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Project Objectives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22825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6" name="Text 4"/>
          <p:cNvSpPr/>
          <p:nvPr/>
        </p:nvSpPr>
        <p:spPr>
          <a:xfrm>
            <a:off x="732365" y="226367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75723" y="2293144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Build a 30+ case troubleshooting dataset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661475" y="303153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9" name="Text 7"/>
          <p:cNvSpPr/>
          <p:nvPr/>
        </p:nvSpPr>
        <p:spPr>
          <a:xfrm>
            <a:off x="732365" y="306695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75723" y="3096419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Detect common network configuration faults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661475" y="383480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2" name="Text 10"/>
          <p:cNvSpPr/>
          <p:nvPr/>
        </p:nvSpPr>
        <p:spPr>
          <a:xfrm>
            <a:off x="732365" y="387022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275723" y="3899694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Generate structured diagnosis and recommended fixes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661475" y="4638080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5" name="Text 13"/>
          <p:cNvSpPr/>
          <p:nvPr/>
        </p:nvSpPr>
        <p:spPr>
          <a:xfrm>
            <a:off x="732365" y="4673501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4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275723" y="4702969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Provide an interactive Streamlit dashboard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661475" y="5441355"/>
            <a:ext cx="425241" cy="42525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</p:sp>
      <p:sp>
        <p:nvSpPr>
          <p:cNvPr id="18" name="Text 16"/>
          <p:cNvSpPr/>
          <p:nvPr/>
        </p:nvSpPr>
        <p:spPr>
          <a:xfrm>
            <a:off x="732365" y="5476776"/>
            <a:ext cx="283461" cy="35440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5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275723" y="5506244"/>
            <a:ext cx="1025449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Keep human reviewer in control at every step</a:t>
            </a:r>
            <a:endParaRPr lang="en-US" sz="1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5562"/>
            <a:ext cx="1162219" cy="255786"/>
          </a:xfrm>
          <a:prstGeom prst="roundRect">
            <a:avLst>
              <a:gd name="adj" fmla="val 7898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477" y="576064"/>
            <a:ext cx="1569800" cy="1547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ARCHITECTURE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4127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System Workflow</a:t>
            </a:r>
            <a:endParaRPr lang="en-US" sz="3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500" y="1592163"/>
            <a:ext cx="10520595" cy="394791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336045" y="4581685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Diagnosis Log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7336215" y="4581685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Review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5347253" y="4581685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Diagnosis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3358291" y="4581685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Rule Checker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325854" y="4581685"/>
            <a:ext cx="1586822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Case Input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661475" y="5708749"/>
            <a:ext cx="10868745" cy="623590"/>
          </a:xfrm>
          <a:prstGeom prst="roundRect">
            <a:avLst>
              <a:gd name="adj" fmla="val 4049"/>
            </a:avLst>
          </a:prstGeom>
          <a:solidFill>
            <a:srgbClr val="CCD7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746" y="5924947"/>
            <a:ext cx="210338" cy="16827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08355" y="5900738"/>
            <a:ext cx="1076317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The system does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not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automatically change any network configurations — human authority is preserved throughout.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985441"/>
            <a:ext cx="1177102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042095"/>
            <a:ext cx="1559878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CORE ENGINE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3481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Deterministic Rule Checker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392363"/>
            <a:ext cx="4637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Python-based rule engine scans device output and configuration data to flag known fault patterns — before AI is ever consulted.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61475" y="3512245"/>
            <a:ext cx="4637269" cy="1039416"/>
          </a:xfrm>
          <a:prstGeom prst="roundRect">
            <a:avLst>
              <a:gd name="adj" fmla="val 2728"/>
            </a:avLst>
          </a:prstGeom>
          <a:solidFill>
            <a:srgbClr val="CCD7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482" y="3786287"/>
            <a:ext cx="236234" cy="1890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75723" y="3729534"/>
            <a:ext cx="383401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Rules are deterministic, transparent, and fully auditable.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766251" y="2434927"/>
            <a:ext cx="2790557" cy="182036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0657" y="2649339"/>
            <a:ext cx="236174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IP &amp; Subnet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5980657" y="3133626"/>
            <a:ext cx="236174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Duplicate IPs · Wrong subnet masks · Gateway mismatch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745815" y="2434927"/>
            <a:ext cx="2790656" cy="1820366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960221" y="2649339"/>
            <a:ext cx="236184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Interface &amp; VLAN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8960221" y="3133626"/>
            <a:ext cx="236184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Interface down · Missing VLAN · Port misconfiguration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5766251" y="4444305"/>
            <a:ext cx="5770220" cy="1215529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 w="25399">
            <a:solidFill>
              <a:srgbClr val="D8D4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80657" y="4658717"/>
            <a:ext cx="534140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Routing &amp; Services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5980657" y="5143004"/>
            <a:ext cx="534140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 routes · DHCP · DNS · ACL · NAT · Wireless failures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109663"/>
            <a:ext cx="844727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66316"/>
            <a:ext cx="122750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 LAYER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72406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Diagnosis and Responsible AI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53553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Every AI Output Includes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3019822"/>
            <a:ext cx="5203794" cy="1776413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Probable root cause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Evidence cited from the case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Recommended fix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Confidence level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Verification steps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53553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Review Options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3019822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recommendations are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explainable, traceable,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subject to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human final authority.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5074940"/>
            <a:ext cx="10868745" cy="673298"/>
          </a:xfrm>
          <a:prstGeom prst="roundRect">
            <a:avLst>
              <a:gd name="adj" fmla="val 4211"/>
            </a:avLst>
          </a:prstGeom>
          <a:solidFill>
            <a:srgbClr val="F2EEEE"/>
          </a:solidFill>
          <a:ln/>
        </p:spPr>
      </p:sp>
      <p:sp>
        <p:nvSpPr>
          <p:cNvPr id="10" name="Shape 8"/>
          <p:cNvSpPr/>
          <p:nvPr/>
        </p:nvSpPr>
        <p:spPr>
          <a:xfrm>
            <a:off x="661475" y="5074940"/>
            <a:ext cx="3622882" cy="673298"/>
          </a:xfrm>
          <a:custGeom>
            <a:avLst/>
            <a:gdLst/>
            <a:ahLst/>
            <a:cxnLst/>
            <a:rect l="l" t="t" r="r" b="b"/>
            <a:pathLst>
              <a:path w="3622882" h="673298">
                <a:moveTo>
                  <a:pt x="23627" y="0"/>
                </a:moveTo>
                <a:lnTo>
                  <a:pt x="3622882" y="0"/>
                </a:lnTo>
                <a:lnTo>
                  <a:pt x="3622882" y="673298"/>
                </a:lnTo>
                <a:lnTo>
                  <a:pt x="23627" y="673298"/>
                </a:lnTo>
                <a:arcTo hR="23628" wR="23627" stAng="5400000" swAng="5400000"/>
                <a:lnTo>
                  <a:pt x="0" y="23628"/>
                </a:lnTo>
                <a:arcTo hR="23628" wR="23627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50482" y="52639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✓ Accept</a:t>
            </a:r>
            <a:endParaRPr lang="en-US" sz="1850" dirty="0"/>
          </a:p>
        </p:txBody>
      </p:sp>
      <p:sp>
        <p:nvSpPr>
          <p:cNvPr id="12" name="Shape 10"/>
          <p:cNvSpPr/>
          <p:nvPr/>
        </p:nvSpPr>
        <p:spPr>
          <a:xfrm>
            <a:off x="4284357" y="5074940"/>
            <a:ext cx="3622882" cy="673298"/>
          </a:xfrm>
          <a:prstGeom prst="rect">
            <a:avLst/>
          </a:prstGeom>
          <a:solidFill>
            <a:srgbClr val="F2EEEE"/>
          </a:solidFill>
          <a:ln/>
        </p:spPr>
      </p:sp>
      <p:sp>
        <p:nvSpPr>
          <p:cNvPr id="13" name="Shape 11"/>
          <p:cNvSpPr/>
          <p:nvPr/>
        </p:nvSpPr>
        <p:spPr>
          <a:xfrm>
            <a:off x="4284357" y="507494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4" name="Text 12"/>
          <p:cNvSpPr/>
          <p:nvPr/>
        </p:nvSpPr>
        <p:spPr>
          <a:xfrm>
            <a:off x="4473364" y="52639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✎ Edit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7907239" y="5074940"/>
            <a:ext cx="3622882" cy="673298"/>
          </a:xfrm>
          <a:custGeom>
            <a:avLst/>
            <a:gdLst/>
            <a:ahLst/>
            <a:cxnLst/>
            <a:rect l="l" t="t" r="r" b="b"/>
            <a:pathLst>
              <a:path w="3622882" h="673298">
                <a:moveTo>
                  <a:pt x="0" y="0"/>
                </a:moveTo>
                <a:lnTo>
                  <a:pt x="3599255" y="0"/>
                </a:lnTo>
                <a:arcTo hR="23628" wR="23627" stAng="16200000" swAng="5400000"/>
                <a:lnTo>
                  <a:pt x="3622882" y="649671"/>
                </a:lnTo>
                <a:arcTo hR="23628" wR="23627" stAng="0" swAng="5400000"/>
                <a:lnTo>
                  <a:pt x="0" y="673298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6" name="Shape 14"/>
          <p:cNvSpPr/>
          <p:nvPr/>
        </p:nvSpPr>
        <p:spPr>
          <a:xfrm>
            <a:off x="7907239" y="5074940"/>
            <a:ext cx="25399" cy="673298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7" name="Text 15"/>
          <p:cNvSpPr/>
          <p:nvPr/>
        </p:nvSpPr>
        <p:spPr>
          <a:xfrm>
            <a:off x="8096246" y="5263952"/>
            <a:ext cx="32448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✗ Reject</a:t>
            </a:r>
            <a:endParaRPr lang="en-US" sz="1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1050528"/>
            <a:ext cx="1109734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1107182"/>
            <a:ext cx="149251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 STACK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41327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Technologies Used</a:t>
            </a:r>
            <a:endParaRPr lang="en-US" sz="37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287389"/>
            <a:ext cx="472468" cy="472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2996109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Core Stack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3404791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Python · Streamlit · Pandas</a:t>
            </a:r>
            <a:endParaRPr lang="en-US" sz="14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287389"/>
            <a:ext cx="472468" cy="472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213915" y="2996109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Storage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213915" y="3404791"/>
            <a:ext cx="5316305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CSV and JSON for structured case and log storage</a:t>
            </a:r>
            <a:endParaRPr lang="en-US" sz="14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4085233"/>
            <a:ext cx="472468" cy="4724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61475" y="4793952"/>
            <a:ext cx="531620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AI Engine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661475" y="5202634"/>
            <a:ext cx="531620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OpenAI API for natural-language diagnosis generation</a:t>
            </a:r>
            <a:endParaRPr lang="en-US" sz="14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213915" y="4085233"/>
            <a:ext cx="472468" cy="4724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213915" y="4793952"/>
            <a:ext cx="5316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Testing &amp; DevOps</a:t>
            </a:r>
            <a:endParaRPr lang="en-US" sz="1850" dirty="0"/>
          </a:p>
        </p:txBody>
      </p:sp>
      <p:sp>
        <p:nvSpPr>
          <p:cNvPr id="16" name="Text 10"/>
          <p:cNvSpPr/>
          <p:nvPr/>
        </p:nvSpPr>
        <p:spPr>
          <a:xfrm>
            <a:off x="6213915" y="5202634"/>
            <a:ext cx="53163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unittest · GitHub version control · Streamlit Community Cloud deployment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99616"/>
            <a:ext cx="837981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956270"/>
            <a:ext cx="1220757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26236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Results and Deployment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23093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32</a:t>
            </a:r>
            <a:endParaRPr lang="en-US" sz="4900" dirty="0"/>
          </a:p>
        </p:txBody>
      </p:sp>
      <p:sp>
        <p:nvSpPr>
          <p:cNvPr id="6" name="Text 4"/>
          <p:cNvSpPr/>
          <p:nvPr/>
        </p:nvSpPr>
        <p:spPr>
          <a:xfrm>
            <a:off x="661475" y="30908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Troubleshooting Cases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661475" y="349954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 the curated dataset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4363135" y="223093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23</a:t>
            </a:r>
            <a:endParaRPr lang="en-US" sz="4900" dirty="0"/>
          </a:p>
        </p:txBody>
      </p:sp>
      <p:sp>
        <p:nvSpPr>
          <p:cNvPr id="9" name="Text 7"/>
          <p:cNvSpPr/>
          <p:nvPr/>
        </p:nvSpPr>
        <p:spPr>
          <a:xfrm>
            <a:off x="4363135" y="30908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Automated Tests Passed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63135" y="349954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Full unittest coverage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8064794" y="2230934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100%</a:t>
            </a:r>
            <a:endParaRPr lang="en-US" sz="4900" dirty="0"/>
          </a:p>
        </p:txBody>
      </p:sp>
      <p:sp>
        <p:nvSpPr>
          <p:cNvPr id="12" name="Text 10"/>
          <p:cNvSpPr/>
          <p:nvPr/>
        </p:nvSpPr>
        <p:spPr>
          <a:xfrm>
            <a:off x="8064794" y="3090863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Human Review Logged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064794" y="3499545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diagnoses tracked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61475" y="4061817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61475" y="4347071"/>
            <a:ext cx="10868745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Interactive dashboard with charts and case analytics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Live deployment on Streamlit Community Cloud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44936" y="5443240"/>
            <a:ext cx="1119486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[Insert NetSage AI dashboard screenshot here]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61475" y="5230614"/>
            <a:ext cx="25399" cy="727670"/>
          </a:xfrm>
          <a:prstGeom prst="roundRect">
            <a:avLst>
              <a:gd name="adj" fmla="val 50001"/>
            </a:avLst>
          </a:prstGeom>
          <a:solidFill>
            <a:srgbClr val="2150FE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8365"/>
            <a:ext cx="1155473" cy="287139"/>
          </a:xfrm>
          <a:prstGeom prst="roundRect">
            <a:avLst>
              <a:gd name="adj" fmla="val 7899"/>
            </a:avLst>
          </a:prstGeom>
          <a:noFill/>
          <a:ln w="6350">
            <a:solidFill>
              <a:srgbClr val="2150F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4879" y="785019"/>
            <a:ext cx="153824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661475" y="109110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Conclusion and Future Scope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661475" y="21542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What NetSage AI Delivers</a:t>
            </a:r>
            <a:endParaRPr lang="en-US" sz="1850" dirty="0"/>
          </a:p>
        </p:txBody>
      </p:sp>
      <p:sp>
        <p:nvSpPr>
          <p:cNvPr id="6" name="Text 4"/>
          <p:cNvSpPr/>
          <p:nvPr/>
        </p:nvSpPr>
        <p:spPr>
          <a:xfrm>
            <a:off x="661475" y="2638524"/>
            <a:ext cx="520379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Network troubleshooting that is more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4C4C4D"/>
                </a:solidFill>
                <a:latin typeface="Heebo Bold" pitchFamily="34" charset="0"/>
                <a:ea typeface="Heebo Bold" pitchFamily="34" charset="-122"/>
                <a:cs typeface="Heebo Bold" pitchFamily="34" charset="-120"/>
              </a:rPr>
              <a:t>structured, explainable, and beginner-friendly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— bridging the gap between junior engineers and complex fault diagnosis.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32776" y="215423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Future Scope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332776" y="2638524"/>
            <a:ext cx="5203794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Persistent review database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Packet Tracer and real-lab integrations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AI-human agreement scoring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Additional network fault categories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4372372"/>
            <a:ext cx="10868745" cy="25400"/>
          </a:xfrm>
          <a:prstGeom prst="roundRect">
            <a:avLst>
              <a:gd name="adj" fmla="val 49999"/>
            </a:avLst>
          </a:prstGeom>
          <a:solidFill>
            <a:srgbClr val="4C4C4D">
              <a:alpha val="5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661475" y="4728468"/>
            <a:ext cx="10868745" cy="815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Thank You</a:t>
            </a:r>
            <a:endParaRPr lang="en-US" sz="5100" dirty="0"/>
          </a:p>
        </p:txBody>
      </p:sp>
      <p:sp>
        <p:nvSpPr>
          <p:cNvPr id="11" name="Text 9"/>
          <p:cNvSpPr/>
          <p:nvPr/>
        </p:nvSpPr>
        <p:spPr>
          <a:xfrm>
            <a:off x="356682" y="5827117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003366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Priyanshu Yadav · IILM University · 2410031648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2026-08-29T16:37:49Z</dcterms:created>
  <dcterms:modified xsi:type="dcterms:W3CDTF">2026-08-29T16:37:49Z</dcterms:modified>
</cp:coreProperties>
</file>